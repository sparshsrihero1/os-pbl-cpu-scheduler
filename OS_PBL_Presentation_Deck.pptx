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E65100"/>
                </a:solidFill>
              </a:rPr>
              <a:t>OPERATING SYSTEMS COURSE PROJECT-BASED LEARNING (PBL)</a:t>
            </a:r>
          </a:p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</a:rPr>
              <a:t>Comparative Study and Simulation of CPU Scheduling Mechanics</a:t>
            </a:r>
          </a:p>
          <a:p>
            <a:r>
              <a:rPr sz="1800" i="1">
                <a:solidFill>
                  <a:srgbClr val="C8E1F5"/>
                </a:solidFill>
              </a:rPr>
              <a:t>Multi-Burst I/O Cycles, Context Switch Overhead (δ), and Real-Time Schedulability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84C78"/>
                </a:solidFill>
              </a:rPr>
              <a:t>👥 Project Team (Group of Exactly 5 Students) &amp; Role Distribution:</a:t>
            </a:r>
          </a:p>
          <a:p>
            <a:r>
              <a:rPr sz="1100">
                <a:solidFill>
                  <a:srgbClr val="282828"/>
                </a:solidFill>
              </a:rPr>
              <a:t>• Sparsh Srivastava (590022251): Theoretical Architect (FCFS, SJF, Multi-Burst)</a:t>
            </a:r>
          </a:p>
          <a:p>
            <a:r>
              <a:rPr sz="1100">
                <a:solidFill>
                  <a:srgbClr val="282828"/>
                </a:solidFill>
              </a:rPr>
              <a:t>• Aayushman Kothari (590025499): Preemptive Lead (SRTF, Priority, Aging Engine)</a:t>
            </a:r>
          </a:p>
          <a:p>
            <a:r>
              <a:rPr sz="1100">
                <a:solidFill>
                  <a:srgbClr val="282828"/>
                </a:solidFill>
              </a:rPr>
              <a:t>• Yasharth Jaiswal (590023687): Concurrency Engineer (Round Robin, Overhead δ, Efficiency η)</a:t>
            </a:r>
          </a:p>
          <a:p>
            <a:r>
              <a:rPr sz="1100">
                <a:solidFill>
                  <a:srgbClr val="282828"/>
                </a:solidFill>
              </a:rPr>
              <a:t>• Satvik Arora (590028424): Real-Time Systems Specialist (RM &amp; EDF Liu-Layland Bounds)</a:t>
            </a:r>
          </a:p>
          <a:p>
            <a:r>
              <a:rPr sz="1100">
                <a:solidFill>
                  <a:srgbClr val="282828"/>
                </a:solidFill>
              </a:rPr>
              <a:t>• Yashvardhan Singh (590021777): Architecture &amp; UI Lead (Streamlit Engine, Plotly Gantt, PCB State)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72835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Problem Statement: Bridging Theory vs. Kernel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Sparsh Srivastava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1. The Multi-Burst Reality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Textbook Oversimplification: </a:t>
            </a:r>
            <a:r>
              <a:rPr sz="1150">
                <a:solidFill>
                  <a:srgbClr val="282828"/>
                </a:solidFill>
              </a:rPr>
              <a:t>Processes are modeled as monolithic, single CPU execution bursts.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Kernel Reality: </a:t>
            </a:r>
            <a:r>
              <a:rPr sz="1150">
                <a:solidFill>
                  <a:srgbClr val="282828"/>
                </a:solidFill>
              </a:rPr>
              <a:t>Processes cycle dynamically: CPU1 -&gt; Peripheral I/O Request -&gt; CPU2.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Impact: </a:t>
            </a:r>
            <a:r>
              <a:rPr sz="1150">
                <a:solidFill>
                  <a:srgbClr val="282828"/>
                </a:solidFill>
              </a:rPr>
              <a:t>Failing to model I/O wait queues distorts realistic ready queue arrival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2. Context Switch Latency (δ)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Textbook Oversimplification: </a:t>
            </a:r>
            <a:r>
              <a:rPr sz="1150">
                <a:solidFill>
                  <a:srgbClr val="282828"/>
                </a:solidFill>
              </a:rPr>
              <a:t>Dispatcher latency and state save/restore are assumed to be 0 ms.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Kernel Reality: </a:t>
            </a:r>
            <a:r>
              <a:rPr sz="1150">
                <a:solidFill>
                  <a:srgbClr val="282828"/>
                </a:solidFill>
              </a:rPr>
              <a:t>Every preemption requires saving CPU registers to PCB and loading new task states.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Impact: </a:t>
            </a:r>
            <a:r>
              <a:rPr sz="1150">
                <a:solidFill>
                  <a:srgbClr val="282828"/>
                </a:solidFill>
              </a:rPr>
              <a:t>As Round Robin quantum q approaches δ, context switch thrashing degrades CPU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3. Real-Time Feasibility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Textbook Oversimplification: </a:t>
            </a:r>
            <a:r>
              <a:rPr sz="1150">
                <a:solidFill>
                  <a:srgbClr val="282828"/>
                </a:solidFill>
              </a:rPr>
              <a:t>Priority is arbitrary; deadlines are neglected.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Kernel Reality: </a:t>
            </a:r>
            <a:r>
              <a:rPr sz="1150">
                <a:solidFill>
                  <a:srgbClr val="282828"/>
                </a:solidFill>
              </a:rPr>
              <a:t>Embedded and real-time systems require mathematical schedulability guarantees.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Impact: </a:t>
            </a:r>
            <a:r>
              <a:rPr sz="1150">
                <a:solidFill>
                  <a:srgbClr val="282828"/>
                </a:solidFill>
              </a:rPr>
              <a:t>Without Rate Monotonic and EDF bounds, systems experience catastrophic deadline misses.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79568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Unit I &amp; II Foundations: Memory Anatomy &amp; 5-State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Yashvardhan Singh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Memory Anatomy &amp; Protection (Unit I)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Text Segment: </a:t>
            </a:r>
            <a:r>
              <a:rPr sz="1150">
                <a:solidFill>
                  <a:srgbClr val="282828"/>
                </a:solidFill>
              </a:rPr>
              <a:t>Read-only compiled machine code instructions.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Data Segment: </a:t>
            </a:r>
            <a:r>
              <a:rPr sz="1150">
                <a:solidFill>
                  <a:srgbClr val="282828"/>
                </a:solidFill>
              </a:rPr>
              <a:t>Global and static initialized/uninitialized variables.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Heap Segment: </a:t>
            </a:r>
            <a:r>
              <a:rPr sz="1150">
                <a:solidFill>
                  <a:srgbClr val="282828"/>
                </a:solidFill>
              </a:rPr>
              <a:t>Dynamically allocated memory (malloc/new) growing upwards.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Stack Segment: </a:t>
            </a:r>
            <a:r>
              <a:rPr sz="1150">
                <a:solidFill>
                  <a:srgbClr val="282828"/>
                </a:solidFill>
              </a:rPr>
              <a:t>Local variables, activation records, growing downwards.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Dual-Mode Operation: </a:t>
            </a:r>
            <a:r>
              <a:rPr sz="1150">
                <a:solidFill>
                  <a:srgbClr val="282828"/>
                </a:solidFill>
              </a:rPr>
              <a:t>User Mode (Bit = 1) vs. Kernel Mode (Bit = 0). Privileged instructions restricted. System calls execute software traps.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Process Control Block &amp; 5-State Model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PCB Fields: </a:t>
            </a:r>
            <a:r>
              <a:rPr sz="1150">
                <a:solidFill>
                  <a:srgbClr val="282828"/>
                </a:solidFill>
              </a:rPr>
              <a:t>PID, Program Counter (PC), CPU Registers, State, Priority.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State 1 - NEW: </a:t>
            </a:r>
            <a:r>
              <a:rPr sz="1150">
                <a:solidFill>
                  <a:srgbClr val="282828"/>
                </a:solidFill>
              </a:rPr>
              <a:t>Program being admitted by the Long-Term Scheduler.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State 2 - READY: </a:t>
            </a:r>
            <a:r>
              <a:rPr sz="1150">
                <a:solidFill>
                  <a:srgbClr val="282828"/>
                </a:solidFill>
              </a:rPr>
              <a:t>Resides in RAM, awaiting Short-Term CPU dispatch.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State 3 - RUNNING: </a:t>
            </a:r>
            <a:r>
              <a:rPr sz="1150">
                <a:solidFill>
                  <a:srgbClr val="282828"/>
                </a:solidFill>
              </a:rPr>
              <a:t>Actively executing machine code on the processor.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State 4 - WAITING: </a:t>
            </a:r>
            <a:r>
              <a:rPr sz="1150">
                <a:solidFill>
                  <a:srgbClr val="282828"/>
                </a:solidFill>
              </a:rPr>
              <a:t>Suspended in Device Waiting Queue awaiting I/O completion.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State 5 - TERMINATED: </a:t>
            </a:r>
            <a:r>
              <a:rPr sz="1150">
                <a:solidFill>
                  <a:srgbClr val="282828"/>
                </a:solidFill>
              </a:rPr>
              <a:t>Execution concluded; resources deallocated.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Multi-Burst Mechanics (CPU1 → I/O → CPU2)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Sparsh Srivastava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Multi-Burst Lifecycle Dynamics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Phase 1 - Initial Execution: </a:t>
            </a:r>
            <a:r>
              <a:rPr sz="1150">
                <a:solidFill>
                  <a:srgbClr val="282828"/>
                </a:solidFill>
              </a:rPr>
              <a:t>Process executes CPU_Burst_1 in RUNNING state.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Phase 2 - Trapping to I/O: </a:t>
            </a:r>
            <a:r>
              <a:rPr sz="1150">
                <a:solidFill>
                  <a:srgbClr val="282828"/>
                </a:solidFill>
              </a:rPr>
              <a:t>Process invokes I/O system call, triggering software trap (Mode 1 -&gt; 0). Process moves from RUNNING to WAITING.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Phase 3 - Device Waiting Queue: </a:t>
            </a:r>
            <a:r>
              <a:rPr sz="1150">
                <a:solidFill>
                  <a:srgbClr val="282828"/>
                </a:solidFill>
              </a:rPr>
              <a:t>The process decrements I/O burst independently while other tasks utilize the CPU.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Phase 4 - Interrupt Re-admission: </a:t>
            </a:r>
            <a:r>
              <a:rPr sz="1150">
                <a:solidFill>
                  <a:srgbClr val="282828"/>
                </a:solidFill>
              </a:rPr>
              <a:t>Upon I/O completion, hardware interrupt triggers ISR, moving process back to READY queue for CPU_Burst_2.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Core Mathematical Metrics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Turnaround Time (TAT): </a:t>
            </a:r>
            <a:r>
              <a:rPr sz="1150">
                <a:solidFill>
                  <a:srgbClr val="282828"/>
                </a:solidFill>
              </a:rPr>
              <a:t>TAT = Completion Time (CT) - Arrival Time (AT)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Waiting Time (WT): </a:t>
            </a:r>
            <a:r>
              <a:rPr sz="1150">
                <a:solidFill>
                  <a:srgbClr val="282828"/>
                </a:solidFill>
              </a:rPr>
              <a:t>WT = TAT - Total CPU Burst - Total I/O Burst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Response Time (RT): </a:t>
            </a:r>
            <a:r>
              <a:rPr sz="1150">
                <a:solidFill>
                  <a:srgbClr val="282828"/>
                </a:solidFill>
              </a:rPr>
              <a:t>RT = First CPU Dispatch Timestamp - Arrival Time (AT)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Convoy Effect Mitigation: </a:t>
            </a:r>
            <a:r>
              <a:rPr sz="1150">
                <a:solidFill>
                  <a:srgbClr val="282828"/>
                </a:solidFill>
              </a:rPr>
              <a:t>When a long CPU-bound task traps for I/O, the ready queue is liberated, allowing short tasks to execute.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Preemptive Schedulers &amp; Starvation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Aayushman Kothari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Preemptive Policies (SRTF &amp; Priority)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SRTF (Preemptive SJF): </a:t>
            </a:r>
            <a:r>
              <a:rPr sz="1150">
                <a:solidFill>
                  <a:srgbClr val="282828"/>
                </a:solidFill>
              </a:rPr>
              <a:t>CPU is allocated to the task with shortest remaining runtime. Preempts current job on new arrivals.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Preemptive Priority: </a:t>
            </a:r>
            <a:r>
              <a:rPr sz="1150">
                <a:solidFill>
                  <a:srgbClr val="282828"/>
                </a:solidFill>
              </a:rPr>
              <a:t>Lower numerical value = Higher priority. Preempts running task if a higher-priority task arrives.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The Starvation Hazard: </a:t>
            </a:r>
            <a:r>
              <a:rPr sz="1150">
                <a:solidFill>
                  <a:srgbClr val="282828"/>
                </a:solidFill>
              </a:rPr>
              <a:t>Low-priority tasks can remain in the Ready Queue indefinitely if higher-priority tasks continually arrive (indefinite blocking).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The Dynamic Aging Solution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Mathematical Formulation: </a:t>
            </a:r>
            <a:r>
              <a:rPr sz="1150">
                <a:solidFill>
                  <a:srgbClr val="282828"/>
                </a:solidFill>
              </a:rPr>
              <a:t>Priority_effective = Priority_initial - floor(Wait_Time / Aging_Epoch)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Aging Mechanism: </a:t>
            </a:r>
            <a:r>
              <a:rPr sz="1150">
                <a:solidFill>
                  <a:srgbClr val="282828"/>
                </a:solidFill>
              </a:rPr>
              <a:t>Every k elapsed clock ticks, waiting tasks receive a priority boost (decrement integer).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Starvation Elimination: </a:t>
            </a:r>
            <a:r>
              <a:rPr sz="1150">
                <a:solidFill>
                  <a:srgbClr val="282828"/>
                </a:solidFill>
              </a:rPr>
              <a:t>Guarantees every process eventually achieves highest priority and executes in bounded time.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Deadlock Distinction: </a:t>
            </a:r>
            <a:r>
              <a:rPr sz="1150">
                <a:solidFill>
                  <a:srgbClr val="282828"/>
                </a:solidFill>
              </a:rPr>
              <a:t>Starvation is indefinite postponement (resource is moving); Deadlock is a circular hold-and-wait deadlock.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Round Robin &amp; Context Switch Penalty (δ)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Yasharth Jaiswal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Time-Sharing &amp; Quantum Dynamics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Round Robin Policy: </a:t>
            </a:r>
            <a:r>
              <a:rPr sz="1150">
                <a:solidFill>
                  <a:srgbClr val="282828"/>
                </a:solidFill>
              </a:rPr>
              <a:t>Ready queue treated as a circular FIFO. Each task is allocated a fixed time quantum q.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Extreme Case 1 (q -&gt; ∞): </a:t>
            </a:r>
            <a:r>
              <a:rPr sz="1150">
                <a:solidFill>
                  <a:srgbClr val="282828"/>
                </a:solidFill>
              </a:rPr>
              <a:t>Round Robin degenerates into First-Come First-Served (FCFS).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Extreme Case 2 (q -&gt; 0): </a:t>
            </a:r>
            <a:r>
              <a:rPr sz="1150">
                <a:solidFill>
                  <a:srgbClr val="282828"/>
                </a:solidFill>
              </a:rPr>
              <a:t>Processor sharing abstraction; however, context switch overhead dominates physical execution.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Dispatcher Latency: </a:t>
            </a:r>
            <a:r>
              <a:rPr sz="1150">
                <a:solidFill>
                  <a:srgbClr val="282828"/>
                </a:solidFill>
              </a:rPr>
              <a:t>Time required for the dispatcher to stop one process and start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CPU Efficiency Formulation (η)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Efficiency Formula: </a:t>
            </a:r>
            <a:r>
              <a:rPr sz="1150">
                <a:solidFill>
                  <a:srgbClr val="282828"/>
                </a:solidFill>
              </a:rPr>
              <a:t>η = (Total Productive CPU Time / Total Makespan) × 100%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Overhead Cost (δ): </a:t>
            </a:r>
            <a:r>
              <a:rPr sz="1150">
                <a:solidFill>
                  <a:srgbClr val="282828"/>
                </a:solidFill>
              </a:rPr>
              <a:t>Whenever preemption occurs, δ units of CPU time are consumed saving/restoring registers.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Empirical Findings: </a:t>
            </a:r>
            <a:r>
              <a:rPr sz="1150">
                <a:solidFill>
                  <a:srgbClr val="282828"/>
                </a:solidFill>
              </a:rPr>
              <a:t>With δ = 1, setting q = 2 drops CPU efficiency to 73.08%.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Optimal Tuning: </a:t>
            </a:r>
            <a:r>
              <a:rPr sz="1150">
                <a:solidFill>
                  <a:srgbClr val="282828"/>
                </a:solidFill>
              </a:rPr>
              <a:t>Increasing quantum to q = 4 restores efficiency to 81.82% without significantly degrading responsiveness.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Real-Time Schedulability: Rate Monotonic &amp; EDF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Satvik Arora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Rate Monotonic (RM) Static Bound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Static Assignment: </a:t>
            </a:r>
            <a:r>
              <a:rPr sz="1150">
                <a:solidFill>
                  <a:srgbClr val="282828"/>
                </a:solidFill>
              </a:rPr>
              <a:t>Priorities assigned inversely to period duration (shorter period = higher priority).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Utilization Bound: </a:t>
            </a:r>
            <a:r>
              <a:rPr sz="1150">
                <a:solidFill>
                  <a:srgbClr val="282828"/>
                </a:solidFill>
              </a:rPr>
              <a:t>U = Σ(C_i / T_i) ≤ N(2^(1/N) - 1)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Liu-Layland Proof: </a:t>
            </a:r>
            <a:r>
              <a:rPr sz="1150">
                <a:solidFill>
                  <a:srgbClr val="282828"/>
                </a:solidFill>
              </a:rPr>
              <a:t>For N=1: 100%, N=2: 82.8%, N=3: 77.9%... Converges to ln(2) ≈ 69.3% as N -&gt; ∞.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Feasibility Verdict: </a:t>
            </a:r>
            <a:r>
              <a:rPr sz="1150">
                <a:solidFill>
                  <a:srgbClr val="282828"/>
                </a:solidFill>
              </a:rPr>
              <a:t>If U ≤ Bound, task set is guaranteed schedulable. If U &gt; Bound, execution is inconclusive.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Earliest Deadline First (EDF) Dynamic Bound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Dynamic Assignment: </a:t>
            </a:r>
            <a:r>
              <a:rPr sz="1150">
                <a:solidFill>
                  <a:srgbClr val="282828"/>
                </a:solidFill>
              </a:rPr>
              <a:t>Priorities assigned dynamically based on nearest absolute deadline.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Optimal Bound: </a:t>
            </a:r>
            <a:r>
              <a:rPr sz="1150">
                <a:solidFill>
                  <a:srgbClr val="282828"/>
                </a:solidFill>
              </a:rPr>
              <a:t>U = Σ(C_i / T_i) ≤ 1.00 (100% Utilization)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Feasibility Verdict: </a:t>
            </a:r>
            <a:r>
              <a:rPr sz="1150">
                <a:solidFill>
                  <a:srgbClr val="282828"/>
                </a:solidFill>
              </a:rPr>
              <a:t>Task set is schedulable if and only if total utilization does not exceed 100%.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Project Automated Engine: </a:t>
            </a:r>
            <a:r>
              <a:rPr sz="1150">
                <a:solidFill>
                  <a:srgbClr val="282828"/>
                </a:solidFill>
              </a:rPr>
              <a:t>Simulator calculates U against both RM and EDF bounds, issuing instant pass/fail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Software Architecture &amp; Interactive GUI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Yashvardhan Singh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Modular Engineering Architecture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Layer 1 - Data Layer: </a:t>
            </a:r>
            <a:r>
              <a:rPr sz="1150">
                <a:solidFill>
                  <a:srgbClr val="282828"/>
                </a:solidFill>
              </a:rPr>
              <a:t>Process dataclass encapsulates PCB attributes, state, and burst vectors.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Layer 2 - Simulation Kernel: </a:t>
            </a:r>
            <a:r>
              <a:rPr sz="1150">
                <a:solidFill>
                  <a:srgbClr val="282828"/>
                </a:solidFill>
              </a:rPr>
              <a:t>Discrete event-driven loop in engine.py tracking ready queues, device queues, and δ overheads.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Layer 3 - Real-Time Engine: </a:t>
            </a:r>
            <a:r>
              <a:rPr sz="1150">
                <a:solidFill>
                  <a:srgbClr val="282828"/>
                </a:solidFill>
              </a:rPr>
              <a:t>Mathematical validation evaluating utilization against Liu-Layland criteria.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Layer 4 - Interactive GUI: </a:t>
            </a:r>
            <a:r>
              <a:rPr sz="1150">
                <a:solidFill>
                  <a:srgbClr val="282828"/>
                </a:solidFill>
              </a:rPr>
              <a:t>Built in Streamlit and Plotly for real-time visualization.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Interactive Dashboard Features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Live Process Editor: </a:t>
            </a:r>
            <a:r>
              <a:rPr sz="1150">
                <a:solidFill>
                  <a:srgbClr val="282828"/>
                </a:solidFill>
              </a:rPr>
              <a:t>Dynamic editable table supporting custom burst and real-time parameters.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Plotly Gantt Chart: </a:t>
            </a:r>
            <a:r>
              <a:rPr sz="1150">
                <a:solidFill>
                  <a:srgbClr val="282828"/>
                </a:solidFill>
              </a:rPr>
              <a:t>Visualizes discrete intervals for PROCESS, CONTEXT SWITCH (δ), and IDLE states.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PCB State Inspector: </a:t>
            </a:r>
            <a:r>
              <a:rPr sz="1150">
                <a:solidFill>
                  <a:srgbClr val="282828"/>
                </a:solidFill>
              </a:rPr>
              <a:t>Displays final completion, waiting, turnaround, and response metrics per task.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Side-by-Side Comparison: </a:t>
            </a:r>
            <a:r>
              <a:rPr sz="1150">
                <a:solidFill>
                  <a:srgbClr val="282828"/>
                </a:solidFill>
              </a:rPr>
              <a:t>Generates comparative bar graphs across all scheduling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Experimental Findings &amp; Comparative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Aayushman &amp; Yasharth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Algorithm Policy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Avg Turnaround Time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Avg Waiting Time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Avg Response Time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CPU Efficiency (η)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FCFS (Multi-Burst)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14.80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8.80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4.20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85.71%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Preemptive Priority (w/ Aging)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12.40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6.40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1.80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82.60%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Round Robin (q=2, δ=1)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16.20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10.20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2.20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73.08%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Round Robin (q=4, δ=1)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14.60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8.60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3.40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82828"/>
                          </a:solidFill>
                        </a:rPr>
                        <a:t>81.82%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97764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Key Empirical Takeaways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Takeaway 1 (Quantum Tuning): </a:t>
            </a:r>
            <a:r>
              <a:rPr sz="1150">
                <a:solidFill>
                  <a:srgbClr val="282828"/>
                </a:solidFill>
              </a:rPr>
              <a:t>Round Robin with q=2 incurs excessive context-switching overhead, dragging efficiency down to 73.08%. Increasing q to 4 improves efficiency by 8.74%.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Takeaway 2 (Aging Validation): </a:t>
            </a:r>
            <a:r>
              <a:rPr sz="1150">
                <a:solidFill>
                  <a:srgbClr val="282828"/>
                </a:solidFill>
              </a:rPr>
              <a:t>Priority scheduling without aging resulted in starvation of P5. Dynamic aging restored fairness without degrading total makespan.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Takeaway 3 (Real-Time Infeasibility Alert): </a:t>
            </a:r>
            <a:r>
              <a:rPr sz="1150">
                <a:solidFill>
                  <a:srgbClr val="282828"/>
                </a:solidFill>
              </a:rPr>
              <a:t>Task set generated U = 1.62 &gt; 1.00; the simulator flagged infeasibility, proving deadlines cannot be met.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6962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65100"/>
                </a:solidFill>
              </a:rPr>
              <a:t>OPERATING SYSTEMS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84C78"/>
                </a:solidFill>
              </a:rPr>
              <a:t>Conclusion &amp; Individual Contribution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184C78"/>
                </a:solidFill>
              </a:rPr>
              <a:t>🎙️ Presenter: All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Summary of Achievements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Bridged Pedagogical Gap: </a:t>
            </a:r>
            <a:r>
              <a:rPr sz="1150">
                <a:solidFill>
                  <a:srgbClr val="282828"/>
                </a:solidFill>
              </a:rPr>
              <a:t>Modeled multi-burst cycles, non-zero context switch overhead (δ), and real-time bounds.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Rigorous Benchmarking: </a:t>
            </a:r>
            <a:r>
              <a:rPr sz="1150">
                <a:solidFill>
                  <a:srgbClr val="282828"/>
                </a:solidFill>
              </a:rPr>
              <a:t>Demonstrated trade-offs between responsiveness and CPU efficiency.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Production Quality Dashboard: </a:t>
            </a:r>
            <a:r>
              <a:rPr sz="1150">
                <a:solidFill>
                  <a:srgbClr val="282828"/>
                </a:solidFill>
              </a:rPr>
              <a:t>Delivered clean Python + Streamlit + Plotly interactive platform.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Direct Syllabus Alignment: </a:t>
            </a:r>
            <a:r>
              <a:rPr sz="1150">
                <a:solidFill>
                  <a:srgbClr val="282828"/>
                </a:solidFill>
              </a:rPr>
              <a:t>Covered Units I &amp; II: Process lifecycle, dual-mode protection, PCB anatomy, and scheduling mathematics.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84C78"/>
                </a:solidFill>
              </a:rPr>
              <a:t>Individual Contribution &amp; Defense Ready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Sparsh Srivastava (590022251): </a:t>
            </a:r>
            <a:r>
              <a:rPr sz="1150">
                <a:solidFill>
                  <a:srgbClr val="282828"/>
                </a:solidFill>
              </a:rPr>
              <a:t>Mathematical metrics modeling &amp; Multi-burst FCFS/SJF lifecycle.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Aayushman Kothari (590025499): </a:t>
            </a:r>
            <a:r>
              <a:rPr sz="1150">
                <a:solidFill>
                  <a:srgbClr val="282828"/>
                </a:solidFill>
              </a:rPr>
              <a:t>Preemptive SRTF, Priority scheduling &amp; Aging starvation proof.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Yasharth Jaiswal (590023687): </a:t>
            </a:r>
            <a:r>
              <a:rPr sz="1150">
                <a:solidFill>
                  <a:srgbClr val="282828"/>
                </a:solidFill>
              </a:rPr>
              <a:t>Round Robin, Context switch latency (δ) &amp; CPU efficiency model.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Satvik Arora (590028424): </a:t>
            </a:r>
            <a:r>
              <a:rPr sz="1150">
                <a:solidFill>
                  <a:srgbClr val="282828"/>
                </a:solidFill>
              </a:rPr>
              <a:t>Real-Time systems, Rate Monotonic &amp; EDF Liu-Layland bounds.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Yashvardhan Singh (590021777): </a:t>
            </a:r>
            <a:r>
              <a:rPr sz="1150">
                <a:solidFill>
                  <a:srgbClr val="282828"/>
                </a:solidFill>
              </a:rPr>
              <a:t>Full-stack Streamlit web engine, PCB inspector &amp; benchmarking.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82828"/>
                </a:solidFill>
              </a:rPr>
              <a:t>Open for Defense: </a:t>
            </a:r>
            <a:r>
              <a:rPr sz="1150">
                <a:solidFill>
                  <a:srgbClr val="282828"/>
                </a:solidFill>
              </a:rPr>
              <a:t>The group is now ready for individual Viva Voce examination.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1765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sparsh srivastava</cp:lastModifiedBy>
  <cp:revision>2</cp:revision>
  <dcterms:created xsi:type="dcterms:W3CDTF">2013-01-27T09:14:16Z</dcterms:created>
  <dcterms:modified xsi:type="dcterms:W3CDTF">2026-10-15T16:40:11Z</dcterms:modified>
  <cp:category/>
</cp:coreProperties>
</file>